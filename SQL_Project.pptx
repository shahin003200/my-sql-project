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84" r:id="rId6"/>
    <p:sldId id="260" r:id="rId7"/>
    <p:sldId id="261" r:id="rId8"/>
    <p:sldId id="264" r:id="rId9"/>
    <p:sldId id="281" r:id="rId10"/>
    <p:sldId id="266" r:id="rId11"/>
    <p:sldId id="267" r:id="rId12"/>
    <p:sldId id="265" r:id="rId13"/>
    <p:sldId id="276" r:id="rId14"/>
    <p:sldId id="277" r:id="rId15"/>
    <p:sldId id="278" r:id="rId16"/>
    <p:sldId id="279" r:id="rId17"/>
    <p:sldId id="280" r:id="rId18"/>
    <p:sldId id="282" r:id="rId19"/>
    <p:sldId id="283" r:id="rId20"/>
    <p:sldId id="275" r:id="rId21"/>
    <p:sldId id="272" r:id="rId22"/>
    <p:sldId id="273" r:id="rId23"/>
    <p:sldId id="274" r:id="rId24"/>
    <p:sldId id="285" r:id="rId25"/>
    <p:sldId id="259" r:id="rId26"/>
  </p:sldIdLst>
  <p:sldSz cx="12192000" cy="6858000"/>
  <p:notesSz cx="6858000" cy="9144000"/>
  <p:embeddedFontLst>
    <p:embeddedFont>
      <p:font typeface="Calibri" panose="020F0502020204030204"/>
      <p:regular r:id="rId30"/>
    </p:embeddedFont>
    <p:embeddedFont>
      <p:font typeface="Libre Baskerville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5" y="0"/>
            <a:ext cx="12621260" cy="687133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690" y="3683000"/>
            <a:ext cx="745109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4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Grocery Store Management</a:t>
            </a:r>
            <a:endParaRPr lang="en-IN" sz="4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lang="en-IN" sz="4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4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br>
              <a:rPr lang="en-IN" sz="4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4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487410" y="5194300"/>
            <a:ext cx="3225165" cy="1475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200" b="1">
                <a:solidFill>
                  <a:srgbClr val="C00000"/>
                </a:solidFill>
              </a:rPr>
              <a:t>Presented by</a:t>
            </a:r>
            <a:endParaRPr lang="en-IN" altLang="en-US" sz="4000">
              <a:solidFill>
                <a:srgbClr val="C00000"/>
              </a:solidFill>
            </a:endParaRPr>
          </a:p>
          <a:p>
            <a:r>
              <a:rPr lang="en-IN" altLang="en-US" sz="2800" b="1"/>
              <a:t>Shahin</a:t>
            </a:r>
            <a:endParaRPr lang="en-IN" altLang="en-US" sz="2800" b="1"/>
          </a:p>
          <a:p>
            <a:r>
              <a:rPr lang="en-US" altLang="en-IN" sz="2400" b="1"/>
              <a:t>Batch No:460</a:t>
            </a:r>
            <a:endParaRPr lang="en-IN" altLang="en-US" sz="2800"/>
          </a:p>
          <a:p>
            <a:endParaRPr lang="en-I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208280" y="18415"/>
            <a:ext cx="10515600" cy="9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b="1">
                <a:solidFill>
                  <a:srgbClr val="FF0000"/>
                </a:solidFill>
              </a:rPr>
              <a:t>Agenda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/>
          <p:nvPr>
            <p:ph type="body" idx="1"/>
          </p:nvPr>
        </p:nvSpPr>
        <p:spPr>
          <a:xfrm>
            <a:off x="921385" y="1781175"/>
            <a:ext cx="9343390" cy="424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v"/>
            </a:pPr>
            <a:r>
              <a:rPr lang="en-IN" sz="2400" b="1"/>
              <a:t>Objective of the Project</a:t>
            </a:r>
            <a:endParaRPr lang="en-IN"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v"/>
            </a:pPr>
            <a:r>
              <a:rPr lang="en-US" altLang="en-IN" sz="2400" b="1"/>
              <a:t>Dataset Overview</a:t>
            </a:r>
            <a:endParaRPr lang="en-IN"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v"/>
            </a:pPr>
            <a:r>
              <a:rPr lang="en-IN" sz="2400" b="1"/>
              <a:t>ER Diagram and schema explanation</a:t>
            </a:r>
            <a:endParaRPr lang="en-IN"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v"/>
            </a:pPr>
            <a:r>
              <a:rPr lang="en-IN" sz="2400" b="1"/>
              <a:t>Key analysis questions </a:t>
            </a:r>
            <a:endParaRPr lang="en-IN"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v"/>
            </a:pPr>
            <a:r>
              <a:rPr lang="en-IN" sz="2400" b="1"/>
              <a:t>SQL query results with screenshots or summaries</a:t>
            </a:r>
            <a:endParaRPr lang="en-IN"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v"/>
            </a:pPr>
            <a:r>
              <a:rPr lang="en-IN" sz="2400" b="1"/>
              <a:t>Final business insights and recommendations</a:t>
            </a:r>
            <a:endParaRPr lang="en-IN" sz="2400" b="1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v"/>
            </a:pPr>
            <a:r>
              <a:rPr lang="en-IN" sz="2400" b="1">
                <a:sym typeface="+mn-ea"/>
              </a:rPr>
              <a:t>Challenges working on SQL – Data Analysis Project.</a:t>
            </a:r>
            <a:endParaRPr lang="en-IN" sz="2400" b="1">
              <a:sym typeface="+mn-ea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charset="0"/>
              <a:buChar char="v"/>
            </a:pPr>
            <a:r>
              <a:rPr lang="en-IN" sz="2400" b="1"/>
              <a:t>Conclusion</a:t>
            </a:r>
            <a:endParaRPr sz="2400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b="1"/>
          </a:p>
        </p:txBody>
      </p:sp>
      <p:sp>
        <p:nvSpPr>
          <p:cNvPr id="2" name="Text Box 1"/>
          <p:cNvSpPr txBox="1"/>
          <p:nvPr/>
        </p:nvSpPr>
        <p:spPr>
          <a:xfrm>
            <a:off x="623570" y="918845"/>
            <a:ext cx="7058025" cy="496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/>
              <a:t>In this presentation, I will discuss:</a:t>
            </a:r>
            <a:endParaRPr lang="en-US" altLang="en-US" sz="28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344805" y="365125"/>
            <a:ext cx="11008995" cy="746760"/>
          </a:xfrm>
        </p:spPr>
        <p:txBody>
          <a:bodyPr>
            <a:normAutofit fontScale="90000"/>
          </a:bodyPr>
          <a:p>
            <a:r>
              <a:rPr lang="en-US" altLang="en-US" b="1">
                <a:solidFill>
                  <a:srgbClr val="FF0000"/>
                </a:solidFill>
              </a:rPr>
              <a:t>Business Problem</a:t>
            </a:r>
            <a:r>
              <a:rPr lang="en-IN" altLang="en-US" b="1">
                <a:solidFill>
                  <a:srgbClr val="FF0000"/>
                </a:solidFill>
              </a:rPr>
              <a:t> :</a:t>
            </a:r>
            <a:endParaRPr lang="en-IN" altLang="en-US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195705"/>
            <a:ext cx="10515600" cy="253111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q"/>
            </a:pPr>
            <a:r>
              <a:rPr lang="en-US" altLang="en-US" sz="2000" b="1"/>
              <a:t>The grocery store lacks a structured system to manage products, suppliers, customers, and orders efficiently.</a:t>
            </a:r>
            <a:endParaRPr lang="en-US" altLang="en-US" sz="2000" b="1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/>
              <a:t>Sales data is not properly analyzed to identify revenue trends and high-performing products.</a:t>
            </a:r>
            <a:endParaRPr lang="en-US" altLang="en-US" sz="2000" b="1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/>
              <a:t>There is no clear tracking of employee performance and supplier contribution.</a:t>
            </a:r>
            <a:endParaRPr lang="en-US" altLang="en-US" sz="2000" b="1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/>
              <a:t>Business decisions are made without proper data insights.</a:t>
            </a:r>
            <a:endParaRPr lang="en-US" altLang="en-US" sz="2000" b="1"/>
          </a:p>
          <a:p>
            <a:pPr>
              <a:buFont typeface="Wingdings" panose="05000000000000000000" charset="0"/>
              <a:buChar char="q"/>
            </a:pPr>
            <a:r>
              <a:rPr lang="en-US" altLang="en-US" sz="2000" b="1"/>
              <a:t>Manual data handling can lead to errors and data inconsistency.</a:t>
            </a:r>
            <a:endParaRPr lang="en-US" altLang="en-US" sz="2000" b="1"/>
          </a:p>
        </p:txBody>
      </p:sp>
      <p:sp>
        <p:nvSpPr>
          <p:cNvPr id="4" name="Text Box 3"/>
          <p:cNvSpPr txBox="1"/>
          <p:nvPr/>
        </p:nvSpPr>
        <p:spPr>
          <a:xfrm>
            <a:off x="978535" y="3715385"/>
            <a:ext cx="1178560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IN" altLang="en-US" sz="1800" b="1"/>
          </a:p>
        </p:txBody>
      </p:sp>
      <p:sp>
        <p:nvSpPr>
          <p:cNvPr id="5" name="Text Box 4"/>
          <p:cNvSpPr txBox="1"/>
          <p:nvPr/>
        </p:nvSpPr>
        <p:spPr>
          <a:xfrm>
            <a:off x="767080" y="4018915"/>
            <a:ext cx="9796145" cy="2309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 b="1"/>
              <a:t>Maintain proper inventory tracking to avoid stock shortages and expired products.</a:t>
            </a:r>
            <a:endParaRPr lang="en-US" altLang="en-US" sz="2000" b="1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 b="1"/>
              <a:t>Use a computerized billing system to reduce manual errors and save time.</a:t>
            </a:r>
            <a:endParaRPr lang="en-US" altLang="en-US" sz="2000" b="1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 b="1"/>
              <a:t>Monitor daily sales and profit reports to identify fast-moving and slow-moving items.</a:t>
            </a:r>
            <a:endParaRPr lang="en-US" altLang="en-US" sz="2000" b="1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 b="1"/>
              <a:t>Control expenses and analyze data regularly to improve overall business growth.</a:t>
            </a:r>
            <a:endParaRPr lang="en-US" sz="2000" b="1"/>
          </a:p>
        </p:txBody>
      </p:sp>
      <p:sp>
        <p:nvSpPr>
          <p:cNvPr id="7" name="Text Box 6"/>
          <p:cNvSpPr txBox="1"/>
          <p:nvPr/>
        </p:nvSpPr>
        <p:spPr>
          <a:xfrm>
            <a:off x="554990" y="3506470"/>
            <a:ext cx="7453630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Business Problem</a:t>
            </a:r>
            <a:r>
              <a:rPr lang="en-IN" altLang="en-US" sz="2400" b="1">
                <a:solidFill>
                  <a:srgbClr val="FF0000"/>
                </a:solidFill>
                <a:sym typeface="+mn-ea"/>
              </a:rPr>
              <a:t> Statement :</a:t>
            </a:r>
            <a:endParaRPr lang="en-US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838200" y="365125"/>
            <a:ext cx="3171190" cy="691515"/>
          </a:xfrm>
        </p:spPr>
        <p:txBody>
          <a:bodyPr>
            <a:normAutofit fontScale="90000"/>
          </a:bodyPr>
          <a:p>
            <a:r>
              <a:rPr lang="en-US" altLang="en-US" sz="4890" b="1">
                <a:solidFill>
                  <a:srgbClr val="FF0000"/>
                </a:solidFill>
              </a:rPr>
              <a:t>Objectives</a:t>
            </a:r>
            <a:endParaRPr lang="en-US" altLang="en-US" sz="4890" b="1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12495" y="1183640"/>
            <a:ext cx="5904230" cy="695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/>
              <a:t>The main goals of this SQL project are:</a:t>
            </a:r>
            <a:endParaRPr lang="en-US" altLang="en-US" sz="2400" b="1"/>
          </a:p>
          <a:p>
            <a:endParaRPr lang="en-US" sz="2400" b="1"/>
          </a:p>
          <a:p>
            <a:endParaRPr lang="en-IN" altLang="en-US" sz="1800" b="1">
              <a:latin typeface="+mn-lt"/>
              <a:cs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37565" y="2029460"/>
            <a:ext cx="9936480" cy="4143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000" b="1"/>
              <a:t>To design and implement a relational database for a grocery store</a:t>
            </a:r>
            <a:endParaRPr lang="en-US" altLang="en-US" sz="2000" b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b="1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000" b="1"/>
              <a:t>To retrieve and manipulate data using SQL queries</a:t>
            </a:r>
            <a:endParaRPr lang="en-US" altLang="en-US" sz="2000" b="1"/>
          </a:p>
          <a:p>
            <a:endParaRPr lang="en-US" altLang="en-US" sz="2000" b="1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000" b="1"/>
              <a:t>To perform data analysis to identify top customers, best-selling products, and revenue trends</a:t>
            </a:r>
            <a:endParaRPr lang="en-US" altLang="en-US" sz="2000" b="1"/>
          </a:p>
          <a:p>
            <a:endParaRPr lang="en-US" altLang="en-US" sz="2000" b="1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000" b="1"/>
              <a:t>To analyze supplier contribution, employee performance, and order behavior</a:t>
            </a:r>
            <a:endParaRPr lang="en-US" altLang="en-US" sz="2000" b="1"/>
          </a:p>
          <a:p>
            <a:endParaRPr lang="en-US" altLang="en-US" sz="2000" b="1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000" b="1"/>
              <a:t>To practice advanced SQL concepts like JOINs, GROUP BY</a:t>
            </a:r>
            <a:r>
              <a:rPr lang="en-IN" altLang="en-US" sz="2000" b="1"/>
              <a:t> ,</a:t>
            </a:r>
            <a:r>
              <a:rPr lang="en-US" altLang="en-US" sz="2000" b="1"/>
              <a:t>Aggregations,</a:t>
            </a:r>
            <a:endParaRPr lang="en-US" altLang="en-US" sz="2000" b="1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000" b="1"/>
              <a:t>    </a:t>
            </a:r>
            <a:r>
              <a:rPr lang="en-US" altLang="en-US" sz="2000" b="1"/>
              <a:t> Subqueries, and</a:t>
            </a:r>
            <a:r>
              <a:rPr lang="en-IN" altLang="en-US" sz="2000" b="1"/>
              <a:t> Window functions</a:t>
            </a:r>
            <a:r>
              <a:rPr lang="en-US" altLang="en-US" sz="2000" b="1"/>
              <a:t> </a:t>
            </a:r>
            <a:endParaRPr lang="en-US" sz="2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469900" y="365125"/>
            <a:ext cx="4759960" cy="778510"/>
          </a:xfrm>
        </p:spPr>
        <p:txBody>
          <a:bodyPr/>
          <a:p>
            <a:r>
              <a:rPr lang="en-US" altLang="en-US" b="1">
                <a:solidFill>
                  <a:srgbClr val="FF0000"/>
                </a:solidFill>
              </a:rPr>
              <a:t>Dataset Overview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>
          <a:xfrm>
            <a:off x="838200" y="1143000"/>
            <a:ext cx="7413625" cy="580390"/>
          </a:xfrm>
        </p:spPr>
        <p:txBody>
          <a:bodyPr/>
          <a:p>
            <a:pPr marL="114300" indent="0">
              <a:buNone/>
            </a:pPr>
            <a:r>
              <a:rPr lang="en-US" altLang="en-US" b="1"/>
              <a:t>The dataset consists of 7 main tables:</a:t>
            </a:r>
            <a:endParaRPr lang="en-US" altLang="en-US" b="1"/>
          </a:p>
          <a:p>
            <a:pPr marL="114300" indent="0">
              <a:buNone/>
            </a:pPr>
            <a:endParaRPr lang="en-I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574800" y="1659890"/>
            <a:ext cx="5020945" cy="3856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000" b="1">
                <a:latin typeface="+mj-lt"/>
                <a:cs typeface="+mj-lt"/>
              </a:rPr>
              <a:t>Products</a:t>
            </a:r>
            <a:endParaRPr lang="en-US" altLang="en-US" sz="2000" b="1">
              <a:latin typeface="+mj-lt"/>
              <a:cs typeface="+mj-lt"/>
            </a:endParaRPr>
          </a:p>
          <a:p>
            <a:endParaRPr lang="en-US" altLang="en-US" sz="2000" b="1">
              <a:latin typeface="+mj-lt"/>
              <a:cs typeface="+mj-lt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000" b="1">
                <a:latin typeface="+mj-lt"/>
                <a:cs typeface="+mj-lt"/>
              </a:rPr>
              <a:t>Suppliers</a:t>
            </a:r>
            <a:endParaRPr lang="en-US" altLang="en-US" sz="2000" b="1">
              <a:latin typeface="+mj-lt"/>
              <a:cs typeface="+mj-lt"/>
            </a:endParaRPr>
          </a:p>
          <a:p>
            <a:endParaRPr lang="en-US" altLang="en-US" sz="2000" b="1">
              <a:latin typeface="+mj-lt"/>
              <a:cs typeface="+mj-lt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000" b="1">
                <a:latin typeface="+mj-lt"/>
                <a:cs typeface="+mj-lt"/>
              </a:rPr>
              <a:t>Employees</a:t>
            </a:r>
            <a:endParaRPr lang="en-US" altLang="en-US" sz="2000" b="1">
              <a:latin typeface="+mj-lt"/>
              <a:cs typeface="+mj-lt"/>
            </a:endParaRPr>
          </a:p>
          <a:p>
            <a:endParaRPr lang="en-US" altLang="en-US" sz="2000" b="1">
              <a:latin typeface="+mj-lt"/>
              <a:cs typeface="+mj-lt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000" b="1">
                <a:latin typeface="+mj-lt"/>
                <a:cs typeface="+mj-lt"/>
              </a:rPr>
              <a:t>Orders</a:t>
            </a:r>
            <a:endParaRPr lang="en-US" altLang="en-US" sz="2000" b="1">
              <a:latin typeface="+mj-lt"/>
              <a:cs typeface="+mj-lt"/>
            </a:endParaRPr>
          </a:p>
          <a:p>
            <a:endParaRPr lang="en-US" altLang="en-US" sz="2000" b="1">
              <a:latin typeface="+mj-lt"/>
              <a:cs typeface="+mj-lt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000" b="1">
                <a:latin typeface="+mj-lt"/>
                <a:cs typeface="+mj-lt"/>
              </a:rPr>
              <a:t>Order Details</a:t>
            </a:r>
            <a:endParaRPr lang="en-US" altLang="en-US" sz="2000" b="1">
              <a:latin typeface="+mj-lt"/>
              <a:cs typeface="+mj-lt"/>
            </a:endParaRPr>
          </a:p>
          <a:p>
            <a:endParaRPr lang="en-US" altLang="en-US" sz="2000" b="1">
              <a:latin typeface="+mj-lt"/>
              <a:cs typeface="+mj-lt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000" b="1">
                <a:latin typeface="+mj-lt"/>
                <a:cs typeface="+mj-lt"/>
              </a:rPr>
              <a:t>Customers</a:t>
            </a:r>
            <a:endParaRPr lang="en-US" altLang="en-US" sz="2000" b="1">
              <a:latin typeface="+mj-lt"/>
              <a:cs typeface="+mj-lt"/>
            </a:endParaRPr>
          </a:p>
          <a:p>
            <a:endParaRPr lang="en-US" altLang="en-US" sz="2000" b="1">
              <a:latin typeface="+mj-lt"/>
              <a:cs typeface="+mj-lt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000" b="1">
                <a:latin typeface="+mj-lt"/>
                <a:cs typeface="+mj-lt"/>
              </a:rPr>
              <a:t>Categories</a:t>
            </a:r>
            <a:endParaRPr lang="en-US" sz="2000" b="1">
              <a:latin typeface="+mj-lt"/>
              <a:cs typeface="+mj-lt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07670" y="5805170"/>
            <a:ext cx="10306685" cy="875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These tables represent real grocery store sales operations and are connected using primary and foreign keys.</a:t>
            </a:r>
            <a:endParaRPr lang="en-US" sz="2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200025" y="240030"/>
            <a:ext cx="11153775" cy="467995"/>
          </a:xfrm>
        </p:spPr>
        <p:txBody>
          <a:bodyPr>
            <a:normAutofit fontScale="90000"/>
          </a:bodyPr>
          <a:p>
            <a:r>
              <a:rPr lang="en-US" altLang="en-US" sz="4890" b="1">
                <a:solidFill>
                  <a:srgbClr val="FF0000"/>
                </a:solidFill>
              </a:rPr>
              <a:t>ER - Diagram</a:t>
            </a:r>
            <a:endParaRPr lang="en-US" altLang="en-US" sz="4890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 flipV="1">
            <a:off x="838200" y="6104890"/>
            <a:ext cx="10515600" cy="76200"/>
          </a:xfrm>
        </p:spPr>
        <p:txBody>
          <a:bodyPr>
            <a:normAutofit fontScale="25000"/>
          </a:bodyPr>
          <a:p>
            <a:pPr marL="114300" indent="0">
              <a:buNone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" y="1282065"/>
            <a:ext cx="10856595" cy="50419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60705" y="756920"/>
            <a:ext cx="10361930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/>
              <a:t>The ER diagram shows the relationships between all tables</a:t>
            </a:r>
            <a:r>
              <a:rPr lang="en-IN" altLang="en-US" b="1"/>
              <a:t>.</a:t>
            </a:r>
            <a:r>
              <a:rPr lang="en-US" altLang="en-US" b="1"/>
              <a:t>Most relationships are One-to-Many.</a:t>
            </a:r>
            <a:endParaRPr lang="en-US" altLang="en-U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335280" y="236855"/>
            <a:ext cx="11018520" cy="401955"/>
          </a:xfrm>
        </p:spPr>
        <p:txBody>
          <a:bodyPr>
            <a:normAutofit fontScale="90000"/>
          </a:bodyPr>
          <a:p>
            <a:r>
              <a:rPr lang="en-US" altLang="en-US" sz="3555" b="1">
                <a:solidFill>
                  <a:srgbClr val="FF0000"/>
                </a:solidFill>
              </a:rPr>
              <a:t>Schema Explanation</a:t>
            </a:r>
            <a:r>
              <a:rPr lang="en-IN" altLang="en-US" sz="3555" b="1">
                <a:solidFill>
                  <a:srgbClr val="FF0000"/>
                </a:solidFill>
              </a:rPr>
              <a:t> :</a:t>
            </a:r>
            <a:endParaRPr lang="en-IN" altLang="en-US" sz="3555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711200"/>
            <a:ext cx="10515600" cy="265049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Ø"/>
            </a:pPr>
            <a:r>
              <a:rPr lang="en-US" altLang="en-US" sz="2000" b="1"/>
              <a:t>Each Supplier acts as a master record and is connected to the Products table through the foreign key (sup_id).</a:t>
            </a:r>
            <a:endParaRPr lang="en-US" altLang="en-US" sz="20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/>
              <a:t>Each Category is linked to multiple Products using (cat_id).</a:t>
            </a:r>
            <a:endParaRPr lang="en-US" altLang="en-US" sz="20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/>
              <a:t>Each Customer is connected to multiple Orders using (cust_id).</a:t>
            </a:r>
            <a:endParaRPr lang="en-US" altLang="en-US" sz="20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/>
              <a:t>Each Employee handles multiple Orders through (emp_id).</a:t>
            </a:r>
            <a:endParaRPr lang="en-US" altLang="en-US" sz="20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/>
              <a:t>Each Order is connected to multiple products through the Order_Details table using (ord_id).</a:t>
            </a:r>
            <a:endParaRPr lang="en-US" altLang="en-US" sz="20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b="1"/>
              <a:t>Each Product can appear in multiple Order_Details records using (prod_id).</a:t>
            </a:r>
            <a:endParaRPr lang="en-US" altLang="en-US" sz="2000" b="1"/>
          </a:p>
        </p:txBody>
      </p:sp>
      <p:sp>
        <p:nvSpPr>
          <p:cNvPr id="4" name="Text Box 3"/>
          <p:cNvSpPr txBox="1"/>
          <p:nvPr/>
        </p:nvSpPr>
        <p:spPr>
          <a:xfrm>
            <a:off x="848995" y="3524885"/>
            <a:ext cx="7727315" cy="496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800" b="1">
                <a:solidFill>
                  <a:srgbClr val="FF0000"/>
                </a:solidFill>
              </a:rPr>
              <a:t>This design creates one-to-many relationships where:</a:t>
            </a:r>
            <a:endParaRPr lang="en-US" altLang="en-US" sz="1800" b="1">
              <a:solidFill>
                <a:srgbClr val="FF000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785620" y="4122420"/>
            <a:ext cx="5325745" cy="175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1800" b="1"/>
              <a:t>       </a:t>
            </a:r>
            <a:r>
              <a:rPr lang="en-US" altLang="en-US" sz="1800" b="1"/>
              <a:t>One Supplier → Many Products</a:t>
            </a:r>
            <a:endParaRPr lang="en-US" altLang="en-US" sz="1800" b="1"/>
          </a:p>
          <a:p>
            <a:r>
              <a:rPr lang="en-US" altLang="en-US" sz="1800" b="1"/>
              <a:t>  One Category → Many Products</a:t>
            </a:r>
            <a:endParaRPr lang="en-US" altLang="en-US" sz="1800" b="1"/>
          </a:p>
          <a:p>
            <a:r>
              <a:rPr lang="en-US" altLang="en-US" sz="1800" b="1"/>
              <a:t>  One Customer → Many Orders</a:t>
            </a:r>
            <a:endParaRPr lang="en-US" altLang="en-US" sz="1800" b="1"/>
          </a:p>
          <a:p>
            <a:r>
              <a:rPr lang="en-US" altLang="en-US" sz="1800" b="1"/>
              <a:t>  One Employee → Many Orders</a:t>
            </a:r>
            <a:endParaRPr lang="en-US" altLang="en-US" sz="1800" b="1"/>
          </a:p>
          <a:p>
            <a:r>
              <a:rPr lang="en-US" altLang="en-US" sz="1800" b="1"/>
              <a:t>  One Order → Many Order_Details</a:t>
            </a:r>
            <a:endParaRPr lang="en-US" altLang="en-US" sz="1800" b="1"/>
          </a:p>
          <a:p>
            <a:r>
              <a:rPr lang="en-US" altLang="en-US" sz="1800" b="1"/>
              <a:t>  One Product → Many Order_Details</a:t>
            </a:r>
            <a:endParaRPr lang="en-US" sz="1800" b="1"/>
          </a:p>
        </p:txBody>
      </p:sp>
      <p:sp>
        <p:nvSpPr>
          <p:cNvPr id="6" name="Text Box 5"/>
          <p:cNvSpPr txBox="1"/>
          <p:nvPr/>
        </p:nvSpPr>
        <p:spPr>
          <a:xfrm>
            <a:off x="632460" y="5948680"/>
            <a:ext cx="8058785" cy="665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 b="1"/>
              <a:t>This schema design ensures proper data organization, maintains relationships using foreign keys, and prevents orphan records using cascade constraints.</a:t>
            </a:r>
            <a:endParaRPr lang="en-US" altLang="en-US" sz="1600" b="1"/>
          </a:p>
          <a:p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1566545" y="365125"/>
            <a:ext cx="9787255" cy="627380"/>
          </a:xfrm>
        </p:spPr>
        <p:txBody>
          <a:bodyPr>
            <a:normAutofit fontScale="90000"/>
          </a:bodyPr>
          <a:p>
            <a:r>
              <a:rPr lang="en-US" altLang="en-US" b="1">
                <a:solidFill>
                  <a:srgbClr val="C00000"/>
                </a:solidFill>
              </a:rPr>
              <a:t>Cascade Rules in Grocery Store Database</a:t>
            </a:r>
            <a:endParaRPr lang="en-US" altLang="en-US" b="1">
              <a:solidFill>
                <a:srgbClr val="C0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212215"/>
            <a:ext cx="10515600" cy="582295"/>
          </a:xfrm>
        </p:spPr>
        <p:txBody>
          <a:bodyPr>
            <a:normAutofit/>
          </a:bodyPr>
          <a:p>
            <a:pPr marL="11430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ON UPDATE CASCADE: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90955" y="1727835"/>
            <a:ext cx="9648190" cy="2223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IN" altLang="en-US" sz="1800"/>
              <a:t>It</a:t>
            </a:r>
            <a:r>
              <a:rPr lang="en-US" altLang="en-US" sz="1800"/>
              <a:t> automatically updates foreign key values in related tables when the primary key changes.</a:t>
            </a:r>
            <a:endParaRPr lang="en-US" altLang="en-US" sz="1800"/>
          </a:p>
          <a:p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/>
              <a:t>This ensures data consistency</a:t>
            </a:r>
            <a:r>
              <a:rPr lang="en-IN" altLang="en-US" sz="1800"/>
              <a:t> across related tables</a:t>
            </a:r>
            <a:r>
              <a:rPr lang="en-US" altLang="en-US" sz="1800"/>
              <a:t> and prevents broken relationships.</a:t>
            </a:r>
            <a:endParaRPr lang="en-US" altLang="en-US" sz="1800"/>
          </a:p>
          <a:p>
            <a:endParaRPr lang="en-US" altLang="en-US" sz="1800"/>
          </a:p>
          <a:p>
            <a:r>
              <a:rPr lang="en-IN" altLang="en-US" sz="1800"/>
              <a:t>         </a:t>
            </a:r>
            <a:r>
              <a:rPr lang="en-US" altLang="en-US" sz="1800"/>
              <a:t>For example, if a supplier ID changes, all related products will </a:t>
            </a:r>
            <a:r>
              <a:rPr lang="en-IN" altLang="en-US" sz="1800"/>
              <a:t> </a:t>
            </a:r>
            <a:r>
              <a:rPr lang="en-US" altLang="en-US" sz="1800"/>
              <a:t>automatically update.</a:t>
            </a:r>
            <a:endParaRPr lang="en-US" sz="1800"/>
          </a:p>
        </p:txBody>
      </p:sp>
      <p:sp>
        <p:nvSpPr>
          <p:cNvPr id="5" name="Text Box 4"/>
          <p:cNvSpPr txBox="1"/>
          <p:nvPr/>
        </p:nvSpPr>
        <p:spPr>
          <a:xfrm>
            <a:off x="681990" y="1125220"/>
            <a:ext cx="4384675" cy="591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93140" y="3501390"/>
            <a:ext cx="4469130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800" b="1">
                <a:solidFill>
                  <a:srgbClr val="FF0000"/>
                </a:solidFill>
              </a:rPr>
              <a:t>Where used in this project:</a:t>
            </a:r>
            <a:endParaRPr lang="en-US" altLang="en-US" sz="1800" b="1">
              <a:solidFill>
                <a:srgbClr val="FF000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46810" y="3990975"/>
            <a:ext cx="5337810" cy="1694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000"/>
              <a:t>supplier → products</a:t>
            </a:r>
            <a:endParaRPr lang="en-US" altLang="en-US" sz="2000"/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000"/>
              <a:t>categories → products</a:t>
            </a:r>
            <a:endParaRPr lang="en-US" altLang="en-US" sz="2000"/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000"/>
              <a:t>customers → orders</a:t>
            </a:r>
            <a:endParaRPr lang="en-US" altLang="en-US" sz="2000"/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000"/>
              <a:t>employees → orders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sz="4000">
                <a:solidFill>
                  <a:srgbClr val="FF0000"/>
                </a:solidFill>
              </a:rPr>
              <a:t>ON DELETE CASCADE </a:t>
            </a:r>
            <a:r>
              <a:rPr lang="en-IN" altLang="en-US" sz="4000">
                <a:solidFill>
                  <a:srgbClr val="FF0000"/>
                </a:solidFill>
              </a:rPr>
              <a:t>:</a:t>
            </a:r>
            <a:endParaRPr lang="en-IN" altLang="en-US" sz="400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424940"/>
            <a:ext cx="10866120" cy="2524125"/>
          </a:xfrm>
        </p:spPr>
        <p:txBody>
          <a:bodyPr>
            <a:normAutofit fontScale="90000"/>
          </a:bodyPr>
          <a:p>
            <a:pPr>
              <a:buFont typeface="Wingdings" panose="05000000000000000000" charset="0"/>
              <a:buChar char="Ø"/>
            </a:pPr>
            <a:r>
              <a:rPr lang="en-IN" altLang="en-US"/>
              <a:t>It </a:t>
            </a:r>
            <a:r>
              <a:rPr lang="en-US" altLang="en-US"/>
              <a:t>automatically deletes related child records when a parent record is removed.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Keeps the database clean and valid when deleting orders/customers/suppliers.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This prevents orphan records and maintains referential integrity.</a:t>
            </a:r>
            <a:endParaRPr lang="en-US" altLang="en-US"/>
          </a:p>
          <a:p>
            <a:pPr marL="114300" indent="0">
              <a:buNone/>
            </a:pPr>
            <a:r>
              <a:rPr lang="en-IN" altLang="en-US"/>
              <a:t>            </a:t>
            </a:r>
            <a:r>
              <a:rPr lang="en-US" altLang="en-US" b="1"/>
              <a:t>For example,</a:t>
            </a:r>
            <a:r>
              <a:rPr lang="en-US" altLang="en-US"/>
              <a:t> when an order is deleted, </a:t>
            </a:r>
            <a:endParaRPr lang="en-US" altLang="en-US"/>
          </a:p>
          <a:p>
            <a:pPr marL="114300" indent="0">
              <a:buNone/>
            </a:pPr>
            <a:r>
              <a:rPr lang="en-IN" altLang="en-US"/>
              <a:t>            </a:t>
            </a:r>
            <a:r>
              <a:rPr lang="en-US" altLang="en-US"/>
              <a:t>the related order details </a:t>
            </a:r>
            <a:r>
              <a:rPr lang="en-IN" altLang="en-US"/>
              <a:t> </a:t>
            </a:r>
            <a:r>
              <a:rPr lang="en-US" altLang="en-US"/>
              <a:t>are also</a:t>
            </a:r>
            <a:r>
              <a:rPr lang="en-IN" altLang="en-US"/>
              <a:t> </a:t>
            </a:r>
            <a:r>
              <a:rPr lang="en-US" altLang="en-US"/>
              <a:t>deleted automatically.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911225" y="3932555"/>
            <a:ext cx="4351655" cy="60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rgbClr val="FF0000"/>
                </a:solidFill>
              </a:rPr>
              <a:t>Where used in this project: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28395" y="4535170"/>
            <a:ext cx="5770245" cy="1675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/>
              <a:t>orders → order_details</a:t>
            </a:r>
            <a:endParaRPr lang="en-US" altLang="en-US" sz="2400"/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/>
              <a:t>supplier → products</a:t>
            </a:r>
            <a:endParaRPr lang="en-US" altLang="en-US" sz="2400"/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en-US" sz="2400"/>
              <a:t>categories → products</a:t>
            </a:r>
            <a:endParaRPr 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838200" y="365125"/>
            <a:ext cx="10515600" cy="773430"/>
          </a:xfrm>
        </p:spPr>
        <p:txBody>
          <a:bodyPr/>
          <a:p>
            <a:r>
              <a:rPr lang="en-US" altLang="en-US" b="1">
                <a:solidFill>
                  <a:srgbClr val="FF0000"/>
                </a:solidFill>
              </a:rPr>
              <a:t>Update cascade and Delete cascade</a:t>
            </a:r>
            <a:endParaRPr lang="en-US" altLang="en-US" b="1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620" y="1200150"/>
            <a:ext cx="836676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344170" y="341630"/>
            <a:ext cx="11081385" cy="699135"/>
          </a:xfrm>
        </p:spPr>
        <p:txBody>
          <a:bodyPr>
            <a:normAutofit fontScale="90000"/>
          </a:bodyPr>
          <a:p>
            <a:r>
              <a:rPr lang="en-US" altLang="en-US" b="1">
                <a:solidFill>
                  <a:srgbClr val="FF0000"/>
                </a:solidFill>
                <a:sym typeface="+mn-ea"/>
              </a:rPr>
              <a:t>Supplier Performance</a:t>
            </a:r>
            <a:r>
              <a:rPr lang="en-IN" altLang="en-US">
                <a:solidFill>
                  <a:srgbClr val="FF0000"/>
                </a:solidFill>
                <a:sym typeface="+mn-ea"/>
              </a:rPr>
              <a:t> : 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89585" y="1568450"/>
            <a:ext cx="10864215" cy="487045"/>
          </a:xfrm>
        </p:spPr>
        <p:txBody>
          <a:bodyPr>
            <a:normAutofit fontScale="90000"/>
          </a:bodyPr>
          <a:p>
            <a:pPr marL="114300" indent="0">
              <a:buNone/>
            </a:pPr>
            <a:r>
              <a:rPr lang="en-IN" altLang="en-US"/>
              <a:t> 1. </a:t>
            </a:r>
            <a:r>
              <a:rPr lang="en-US" altLang="en-US"/>
              <a:t>Which supplier provides the most products?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983615" y="2204720"/>
            <a:ext cx="7112000" cy="3472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290" y="2308860"/>
            <a:ext cx="6050280" cy="31629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029450" y="2501900"/>
            <a:ext cx="4592955" cy="2096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330" y="2205355"/>
            <a:ext cx="4309110" cy="153479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761490" y="1083310"/>
            <a:ext cx="8517255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Identify the most active and profitable suppliers.</a:t>
            </a:r>
            <a:endParaRPr lang="en-US" altLang="en-US" sz="2000" b="1"/>
          </a:p>
        </p:txBody>
      </p:sp>
      <p:sp>
        <p:nvSpPr>
          <p:cNvPr id="9" name="Text Box 8"/>
          <p:cNvSpPr txBox="1"/>
          <p:nvPr/>
        </p:nvSpPr>
        <p:spPr>
          <a:xfrm>
            <a:off x="7884160" y="468630"/>
            <a:ext cx="3837940" cy="94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4000" b="1">
                <a:solidFill>
                  <a:srgbClr val="FF0000"/>
                </a:solidFill>
                <a:sym typeface="+mn-ea"/>
              </a:rPr>
              <a:t>Key Analysis</a:t>
            </a:r>
            <a:endParaRPr lang="en-IN" altLang="en-US" sz="4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838200" y="365125"/>
            <a:ext cx="10515600" cy="553085"/>
          </a:xfrm>
        </p:spPr>
        <p:txBody>
          <a:bodyPr>
            <a:normAutofit/>
          </a:bodyPr>
          <a:p>
            <a:r>
              <a:rPr lang="en-IN" altLang="en-US" sz="2400" b="1"/>
              <a:t> </a:t>
            </a:r>
            <a:r>
              <a:rPr lang="en-US" altLang="en-US" sz="2400" b="1"/>
              <a:t>Which suppliers contribute the most to total product sales (by revenue)?</a:t>
            </a:r>
            <a:endParaRPr lang="en-US" altLang="en-US" sz="2400" b="1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3448685"/>
            <a:ext cx="10515600" cy="564515"/>
          </a:xfrm>
        </p:spPr>
        <p:txBody>
          <a:bodyPr/>
          <a:p>
            <a:pPr marL="114300" indent="0">
              <a:buNone/>
            </a:pPr>
            <a:r>
              <a:rPr lang="en-US" altLang="en-US" sz="2400" b="1"/>
              <a:t>What is the average price of products from each supplier?</a:t>
            </a:r>
            <a:endParaRPr lang="en-US" altLang="en-US" sz="24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860" y="996950"/>
            <a:ext cx="7020560" cy="22332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179435" y="918845"/>
            <a:ext cx="3677285" cy="2435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275" y="1061720"/>
            <a:ext cx="2901950" cy="21469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063750" y="4140200"/>
            <a:ext cx="4043045" cy="1878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495" y="3892550"/>
            <a:ext cx="4093845" cy="240728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077710" y="4013835"/>
            <a:ext cx="4064000" cy="2023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410" y="4030345"/>
            <a:ext cx="3232150" cy="2381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266065" y="285750"/>
            <a:ext cx="11087735" cy="359410"/>
          </a:xfrm>
        </p:spPr>
        <p:txBody>
          <a:bodyPr>
            <a:normAutofit fontScale="90000"/>
          </a:bodyPr>
          <a:p>
            <a:r>
              <a:rPr lang="en-US" altLang="en-US" sz="4000" b="1">
                <a:solidFill>
                  <a:srgbClr val="FF0000"/>
                </a:solidFill>
              </a:rPr>
              <a:t>Employee Performance</a:t>
            </a:r>
            <a:endParaRPr lang="en-US" altLang="en-US" sz="4000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721995"/>
            <a:ext cx="10515600" cy="534670"/>
          </a:xfrm>
        </p:spPr>
        <p:txBody>
          <a:bodyPr>
            <a:normAutofit/>
          </a:bodyPr>
          <a:p>
            <a:pPr marL="114300" indent="0">
              <a:buNone/>
            </a:pPr>
            <a:r>
              <a:rPr lang="en-US" altLang="en-US" sz="2400" b="1"/>
              <a:t>Employee who handled the most orders </a:t>
            </a:r>
            <a:endParaRPr lang="en-US" altLang="en-US" sz="2400" b="1"/>
          </a:p>
        </p:txBody>
      </p:sp>
      <p:sp>
        <p:nvSpPr>
          <p:cNvPr id="4" name="Text Box 3"/>
          <p:cNvSpPr txBox="1"/>
          <p:nvPr/>
        </p:nvSpPr>
        <p:spPr>
          <a:xfrm>
            <a:off x="1639570" y="4584700"/>
            <a:ext cx="5429250" cy="165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1156335"/>
            <a:ext cx="7501255" cy="29298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886315" y="1928495"/>
            <a:ext cx="2121535" cy="187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950" y="436880"/>
            <a:ext cx="3119120" cy="10629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983615" y="4185285"/>
            <a:ext cx="80670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/>
              <a:t>What is the total sales value processed by each employee?</a:t>
            </a:r>
            <a:endParaRPr lang="en-US" sz="2000" b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095" y="4650740"/>
            <a:ext cx="7087235" cy="18637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614795" y="3752215"/>
            <a:ext cx="6955790" cy="2134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940" y="2602230"/>
            <a:ext cx="3255010" cy="35071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280035" y="165100"/>
            <a:ext cx="11073765" cy="676275"/>
          </a:xfrm>
        </p:spPr>
        <p:txBody>
          <a:bodyPr/>
          <a:p>
            <a:r>
              <a:rPr lang="en-US" altLang="en-US" sz="3200" b="1">
                <a:solidFill>
                  <a:srgbClr val="FF0000"/>
                </a:solidFill>
              </a:rPr>
              <a:t>Product Performance</a:t>
            </a:r>
            <a:endParaRPr lang="en-US" altLang="en-US" sz="3200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551180" y="737870"/>
            <a:ext cx="10802620" cy="690880"/>
          </a:xfrm>
        </p:spPr>
        <p:txBody>
          <a:bodyPr>
            <a:normAutofit/>
          </a:bodyPr>
          <a:p>
            <a:pPr marL="114300" indent="0">
              <a:buNone/>
            </a:pPr>
            <a:r>
              <a:rPr lang="en-US" altLang="en-US" sz="2400" b="1"/>
              <a:t>Which products have the highest total sales volume (by quantity)?</a:t>
            </a:r>
            <a:endParaRPr lang="en-US" altLang="en-US" sz="2400" b="1"/>
          </a:p>
        </p:txBody>
      </p:sp>
      <p:sp>
        <p:nvSpPr>
          <p:cNvPr id="4" name="Text Box 3"/>
          <p:cNvSpPr txBox="1"/>
          <p:nvPr/>
        </p:nvSpPr>
        <p:spPr>
          <a:xfrm>
            <a:off x="778510" y="1361440"/>
            <a:ext cx="7704455" cy="177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" y="1196975"/>
            <a:ext cx="7502525" cy="28200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5" y="1578610"/>
            <a:ext cx="3843020" cy="107124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33730" y="3871595"/>
            <a:ext cx="7406005" cy="512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How many products exist in each category?</a:t>
            </a:r>
            <a:endParaRPr lang="en-US" sz="2000" b="1"/>
          </a:p>
        </p:txBody>
      </p:sp>
      <p:sp>
        <p:nvSpPr>
          <p:cNvPr id="9" name="Text Box 8"/>
          <p:cNvSpPr txBox="1"/>
          <p:nvPr/>
        </p:nvSpPr>
        <p:spPr>
          <a:xfrm>
            <a:off x="1005840" y="4664075"/>
            <a:ext cx="7476490" cy="1726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4448810"/>
            <a:ext cx="7126605" cy="159956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8328660" y="3378835"/>
            <a:ext cx="5210175" cy="2388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475" y="3236595"/>
            <a:ext cx="3108325" cy="26396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354965" y="208280"/>
            <a:ext cx="10998835" cy="360045"/>
          </a:xfrm>
        </p:spPr>
        <p:txBody>
          <a:bodyPr>
            <a:normAutofit fontScale="90000"/>
          </a:bodyPr>
          <a:p>
            <a:r>
              <a:rPr lang="en-US" altLang="en-US" sz="3200" b="1">
                <a:solidFill>
                  <a:srgbClr val="FF0000"/>
                </a:solidFill>
              </a:rPr>
              <a:t>Order Details Deep Dive</a:t>
            </a:r>
            <a:r>
              <a:rPr lang="en-IN" altLang="en-US" sz="3200" b="1">
                <a:solidFill>
                  <a:srgbClr val="FF0000"/>
                </a:solidFill>
              </a:rPr>
              <a:t> :</a:t>
            </a:r>
            <a:endParaRPr lang="en-IN" altLang="en-US" sz="3200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542925" y="584835"/>
            <a:ext cx="10810875" cy="628650"/>
          </a:xfrm>
        </p:spPr>
        <p:txBody>
          <a:bodyPr>
            <a:normAutofit/>
          </a:bodyPr>
          <a:p>
            <a:pPr marL="114300" indent="0">
              <a:buNone/>
            </a:pPr>
            <a:r>
              <a:rPr lang="en-IN" altLang="en-US" sz="2400" b="1"/>
              <a:t>What is </a:t>
            </a:r>
            <a:r>
              <a:rPr lang="en-US" altLang="en-US" sz="2400" b="1"/>
              <a:t>Average quantity per product</a:t>
            </a:r>
            <a:r>
              <a:rPr lang="en-IN" altLang="en-US" sz="2400" b="1"/>
              <a:t> ?</a:t>
            </a:r>
            <a:endParaRPr lang="en-IN" altLang="en-US" sz="2400" b="1"/>
          </a:p>
        </p:txBody>
      </p:sp>
      <p:sp>
        <p:nvSpPr>
          <p:cNvPr id="4" name="Text Box 3"/>
          <p:cNvSpPr txBox="1"/>
          <p:nvPr/>
        </p:nvSpPr>
        <p:spPr>
          <a:xfrm>
            <a:off x="406400" y="4451985"/>
            <a:ext cx="8844915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What is the relationship between quantity ordered and total price?</a:t>
            </a:r>
            <a:endParaRPr lang="en-US" sz="2000" b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295" y="1077595"/>
            <a:ext cx="5763895" cy="33947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456170" y="702945"/>
            <a:ext cx="4362450" cy="2579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0" y="337185"/>
            <a:ext cx="3430270" cy="253809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54965" y="4451985"/>
            <a:ext cx="8149590" cy="486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520" y="4959350"/>
            <a:ext cx="4820285" cy="158115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9103360" y="4060190"/>
            <a:ext cx="4064000" cy="1824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175" y="3524885"/>
            <a:ext cx="2868295" cy="24307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210185" y="207010"/>
            <a:ext cx="11143615" cy="564515"/>
          </a:xfrm>
        </p:spPr>
        <p:txBody>
          <a:bodyPr>
            <a:normAutofit fontScale="90000"/>
          </a:bodyPr>
          <a:p>
            <a:r>
              <a:rPr lang="en-US" altLang="en-US" sz="3600" b="1">
                <a:solidFill>
                  <a:srgbClr val="FF0000"/>
                </a:solidFill>
              </a:rPr>
              <a:t>Customer Insights</a:t>
            </a:r>
            <a:r>
              <a:rPr lang="en-IN" altLang="en-US" sz="3600" b="1">
                <a:solidFill>
                  <a:srgbClr val="FF0000"/>
                </a:solidFill>
              </a:rPr>
              <a:t> :</a:t>
            </a:r>
            <a:endParaRPr lang="en-IN" altLang="en-US" sz="3600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35610" y="715645"/>
            <a:ext cx="10918190" cy="627380"/>
          </a:xfrm>
        </p:spPr>
        <p:txBody>
          <a:bodyPr>
            <a:normAutofit/>
          </a:bodyPr>
          <a:p>
            <a:pPr marL="114300" indent="0">
              <a:buNone/>
            </a:pPr>
            <a:r>
              <a:rPr lang="en-US" altLang="en-US" sz="2400" b="1"/>
              <a:t>Who are the top 5 customers by total purchase amount?</a:t>
            </a:r>
            <a:endParaRPr lang="en-US" altLang="en-US" sz="2400" b="1"/>
          </a:p>
        </p:txBody>
      </p:sp>
      <p:sp>
        <p:nvSpPr>
          <p:cNvPr id="4" name="Text Box 3"/>
          <p:cNvSpPr txBox="1"/>
          <p:nvPr/>
        </p:nvSpPr>
        <p:spPr>
          <a:xfrm>
            <a:off x="2439670" y="1995805"/>
            <a:ext cx="4064000" cy="2078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60" y="1074420"/>
            <a:ext cx="7602220" cy="25908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531860" y="1071245"/>
            <a:ext cx="3406140" cy="2446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000125"/>
            <a:ext cx="3171825" cy="256794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064895" y="4581525"/>
            <a:ext cx="6834505" cy="1849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" y="4171950"/>
            <a:ext cx="4973320" cy="244602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23570" y="3735705"/>
            <a:ext cx="8219440" cy="565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What is the total and average purchase value per customer?</a:t>
            </a:r>
            <a:endParaRPr lang="en-US" sz="2000" b="1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915" y="3742690"/>
            <a:ext cx="3633470" cy="2368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840740" y="4545330"/>
            <a:ext cx="7488555" cy="478155"/>
          </a:xfrm>
        </p:spPr>
        <p:txBody>
          <a:bodyPr>
            <a:normAutofit fontScale="90000"/>
          </a:bodyPr>
          <a:p>
            <a:pPr marL="114300" indent="0">
              <a:buNone/>
            </a:pPr>
            <a:endParaRPr lang="en-US" altLang="en-US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2060575"/>
            <a:ext cx="5471795" cy="3161030"/>
          </a:xfrm>
          <a:prstGeom prst="rect">
            <a:avLst/>
          </a:prstGeom>
        </p:spPr>
      </p:pic>
      <p:sp>
        <p:nvSpPr>
          <p:cNvPr id="5" name="Title 4"/>
          <p:cNvSpPr/>
          <p:nvPr>
            <p:ph type="title"/>
          </p:nvPr>
        </p:nvSpPr>
        <p:spPr>
          <a:xfrm>
            <a:off x="479425" y="476250"/>
            <a:ext cx="10927715" cy="449580"/>
          </a:xfrm>
        </p:spPr>
        <p:txBody>
          <a:bodyPr>
            <a:normAutofit fontScale="90000"/>
          </a:bodyPr>
          <a:p>
            <a:r>
              <a:rPr lang="en-US" altLang="en-US" sz="3200" b="1">
                <a:solidFill>
                  <a:srgbClr val="FF0000"/>
                </a:solidFill>
              </a:rPr>
              <a:t>Sales and Order Trends</a:t>
            </a:r>
            <a:endParaRPr lang="en-US" altLang="en-US" sz="3200" b="1">
              <a:solidFill>
                <a:srgbClr val="FF0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1225" y="1412240"/>
            <a:ext cx="9079230" cy="62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What are the monthly trends in order volume and</a:t>
            </a:r>
            <a:r>
              <a:rPr lang="en-IN" altLang="en-US" sz="2000" b="1"/>
              <a:t> </a:t>
            </a:r>
            <a:r>
              <a:rPr lang="en-US" altLang="en-US" sz="2000" b="1"/>
              <a:t>reven</a:t>
            </a:r>
            <a:r>
              <a:rPr lang="en-IN" altLang="en-US" sz="2000" b="1"/>
              <a:t>ue ?</a:t>
            </a:r>
            <a:endParaRPr lang="en-US" altLang="en-US" sz="2000" b="1"/>
          </a:p>
          <a:p>
            <a:endParaRPr lang="en-US" altLang="en-US" sz="2000" b="1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135" y="2852420"/>
            <a:ext cx="4048760" cy="13773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142240" y="141605"/>
            <a:ext cx="11211560" cy="572135"/>
          </a:xfrm>
        </p:spPr>
        <p:txBody>
          <a:bodyPr>
            <a:normAutofit fontScale="90000"/>
          </a:bodyPr>
          <a:p>
            <a:r>
              <a:rPr lang="en-US" altLang="en-US">
                <a:solidFill>
                  <a:srgbClr val="FF0000"/>
                </a:solidFill>
              </a:rPr>
              <a:t>Combined Business Insights</a:t>
            </a:r>
            <a:r>
              <a:rPr lang="en-IN" altLang="en-US">
                <a:solidFill>
                  <a:srgbClr val="FF0000"/>
                </a:solidFill>
              </a:rPr>
              <a:t> :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527685" y="715010"/>
            <a:ext cx="10826115" cy="426720"/>
          </a:xfrm>
        </p:spPr>
        <p:txBody>
          <a:bodyPr>
            <a:normAutofit fontScale="80000"/>
          </a:bodyPr>
          <a:p>
            <a:pPr marL="114300" indent="0">
              <a:buNone/>
            </a:pPr>
            <a:r>
              <a:rPr lang="en-US" altLang="en-US" b="1"/>
              <a:t>Supplier Insights</a:t>
            </a:r>
            <a:r>
              <a:rPr lang="en-IN" altLang="en-US" b="1"/>
              <a:t> :</a:t>
            </a:r>
            <a:endParaRPr lang="en-IN" alt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1074420" y="1206500"/>
            <a:ext cx="9066530" cy="1240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800"/>
              <a:t>One supplier provides the highest number of products in the store.</a:t>
            </a:r>
            <a:endParaRPr lang="en-US" altLang="en-US" sz="1800"/>
          </a:p>
          <a:p>
            <a:endParaRPr lang="en-US" altLang="en-US" sz="18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800"/>
              <a:t>The same supplier generates the highest revenue compared to others.</a:t>
            </a:r>
            <a:endParaRPr lang="en-US" altLang="en-US" sz="1800"/>
          </a:p>
          <a:p>
            <a:endParaRPr lang="en-US" altLang="en-US" sz="18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800"/>
              <a:t>The business depends more on this major supplier for overall sales performance.</a:t>
            </a:r>
            <a:endParaRPr lang="en-US" sz="1800"/>
          </a:p>
        </p:txBody>
      </p:sp>
      <p:sp>
        <p:nvSpPr>
          <p:cNvPr id="5" name="Text Box 4"/>
          <p:cNvSpPr txBox="1"/>
          <p:nvPr/>
        </p:nvSpPr>
        <p:spPr>
          <a:xfrm>
            <a:off x="714375" y="2705735"/>
            <a:ext cx="4757420" cy="51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800" b="1"/>
              <a:t>Employee Insights</a:t>
            </a:r>
            <a:r>
              <a:rPr lang="en-IN" altLang="en-US" sz="1800" b="1"/>
              <a:t> :</a:t>
            </a:r>
            <a:endParaRPr lang="en-IN" altLang="en-US" sz="1800" b="1"/>
          </a:p>
          <a:p>
            <a:endParaRPr lang="en-IN" altLang="en-US" sz="1800" b="1"/>
          </a:p>
        </p:txBody>
      </p:sp>
      <p:sp>
        <p:nvSpPr>
          <p:cNvPr id="6" name="Text Box 5"/>
          <p:cNvSpPr txBox="1"/>
          <p:nvPr/>
        </p:nvSpPr>
        <p:spPr>
          <a:xfrm>
            <a:off x="1064895" y="3179445"/>
            <a:ext cx="9142730" cy="1184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800"/>
              <a:t>Some employees handle more orders than others.</a:t>
            </a:r>
            <a:endParaRPr lang="en-US" altLang="en-US" sz="1800"/>
          </a:p>
          <a:p>
            <a:endParaRPr lang="en-US" altLang="en-US" sz="18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800"/>
              <a:t>Employees who process more orders generate higher sales.</a:t>
            </a:r>
            <a:endParaRPr lang="en-US" altLang="en-US" sz="1800"/>
          </a:p>
          <a:p>
            <a:endParaRPr lang="en-US" altLang="en-US" sz="18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800"/>
              <a:t>Balanced workload and proper training can improve employee performance.</a:t>
            </a:r>
            <a:endParaRPr lang="en-US" sz="1800"/>
          </a:p>
        </p:txBody>
      </p:sp>
      <p:sp>
        <p:nvSpPr>
          <p:cNvPr id="7" name="Text Box 6"/>
          <p:cNvSpPr txBox="1"/>
          <p:nvPr/>
        </p:nvSpPr>
        <p:spPr>
          <a:xfrm>
            <a:off x="695960" y="4610100"/>
            <a:ext cx="4833620" cy="454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800" b="1"/>
              <a:t>Order Insights</a:t>
            </a:r>
            <a:r>
              <a:rPr lang="en-IN" altLang="en-US" sz="1800" b="1"/>
              <a:t> :</a:t>
            </a:r>
            <a:endParaRPr lang="en-IN" altLang="en-US" sz="1800" b="1"/>
          </a:p>
        </p:txBody>
      </p:sp>
      <p:sp>
        <p:nvSpPr>
          <p:cNvPr id="8" name="Text Box 7"/>
          <p:cNvSpPr txBox="1"/>
          <p:nvPr/>
        </p:nvSpPr>
        <p:spPr>
          <a:xfrm>
            <a:off x="998855" y="5095240"/>
            <a:ext cx="8719185" cy="1605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800"/>
              <a:t>Higher quantity orders generate higher total revenue.</a:t>
            </a:r>
            <a:endParaRPr lang="en-US" altLang="en-US" sz="1800"/>
          </a:p>
          <a:p>
            <a:endParaRPr lang="en-US" altLang="en-US" sz="18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800"/>
              <a:t>Some products are ordered more frequently than others.</a:t>
            </a:r>
            <a:endParaRPr lang="en-US" altLang="en-US" sz="1800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18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800">
                <a:sym typeface="+mn-ea"/>
              </a:rPr>
              <a:t>There are small price differences for the same product in different orders.</a:t>
            </a:r>
            <a:endParaRPr lang="en-US" sz="1800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1800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1800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1800"/>
          </a:p>
          <a:p>
            <a:endParaRPr lang="en-US" altLang="en-US" sz="1800"/>
          </a:p>
          <a:p>
            <a:endParaRPr lang="en-US" sz="1800"/>
          </a:p>
        </p:txBody>
      </p:sp>
      <p:sp>
        <p:nvSpPr>
          <p:cNvPr id="9" name="Text Box 8"/>
          <p:cNvSpPr txBox="1"/>
          <p:nvPr/>
        </p:nvSpPr>
        <p:spPr>
          <a:xfrm>
            <a:off x="1063625" y="6030595"/>
            <a:ext cx="755586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406400" y="365125"/>
            <a:ext cx="10947400" cy="946150"/>
          </a:xfrm>
        </p:spPr>
        <p:txBody>
          <a:bodyPr/>
          <a:p>
            <a:r>
              <a:rPr lang="en-US" altLang="en-US" sz="4000" b="1">
                <a:solidFill>
                  <a:srgbClr val="FF0000"/>
                </a:solidFill>
              </a:rPr>
              <a:t>Recommendations</a:t>
            </a:r>
            <a:r>
              <a:rPr lang="en-IN" altLang="en-US" sz="4000" b="1">
                <a:solidFill>
                  <a:srgbClr val="FF0000"/>
                </a:solidFill>
              </a:rPr>
              <a:t> :</a:t>
            </a:r>
            <a:endParaRPr lang="en-IN" altLang="en-US" sz="4000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311275"/>
            <a:ext cx="10515600" cy="558165"/>
          </a:xfrm>
        </p:spPr>
        <p:txBody>
          <a:bodyPr>
            <a:normAutofit/>
          </a:bodyPr>
          <a:p>
            <a:pPr marL="114300" indent="0">
              <a:buNone/>
            </a:pPr>
            <a:r>
              <a:rPr lang="en-US" altLang="en-US" b="1"/>
              <a:t>Based on the analysis, I recommend:</a:t>
            </a:r>
            <a:endParaRPr lang="en-US" alt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2062480" y="1998980"/>
            <a:ext cx="8732520" cy="362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 </a:t>
            </a:r>
            <a:r>
              <a:rPr lang="en-US" altLang="en-US" sz="2400"/>
              <a:t>Strengthening relationships with top-performing suppliers</a:t>
            </a:r>
            <a:endParaRPr lang="en-US" altLang="en-US" sz="2400"/>
          </a:p>
          <a:p>
            <a:endParaRPr lang="en-US" altLang="en-US"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 </a:t>
            </a:r>
            <a:r>
              <a:rPr lang="en-US" altLang="en-US" sz="2400"/>
              <a:t>Providing training for underperforming employees</a:t>
            </a:r>
            <a:endParaRPr lang="en-US" altLang="en-US" sz="2400"/>
          </a:p>
          <a:p>
            <a:endParaRPr lang="en-US" altLang="en-US"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 </a:t>
            </a:r>
            <a:r>
              <a:rPr lang="en-US" altLang="en-US" sz="2400"/>
              <a:t>Standardizing pricing strategy</a:t>
            </a:r>
            <a:endParaRPr lang="en-US" altLang="en-US" sz="2400"/>
          </a:p>
          <a:p>
            <a:endParaRPr lang="en-US" altLang="en-US"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 </a:t>
            </a:r>
            <a:r>
              <a:rPr lang="en-US" altLang="en-US" sz="2400"/>
              <a:t>Improving inventory planning</a:t>
            </a:r>
            <a:endParaRPr lang="en-US" altLang="en-US" sz="2400"/>
          </a:p>
          <a:p>
            <a:endParaRPr lang="en-US" altLang="en-US" sz="24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400"/>
              <a:t> </a:t>
            </a:r>
            <a:r>
              <a:rPr lang="en-US" altLang="en-US" sz="2400"/>
              <a:t>Automating order tracking systems</a:t>
            </a:r>
            <a:endParaRPr 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387985" y="365125"/>
            <a:ext cx="10965815" cy="1325880"/>
          </a:xfrm>
        </p:spPr>
        <p:txBody>
          <a:bodyPr/>
          <a:p>
            <a:r>
              <a:rPr lang="en-US" altLang="en-US" b="1">
                <a:solidFill>
                  <a:srgbClr val="FF0000"/>
                </a:solidFill>
              </a:rPr>
              <a:t>Challenges Faced</a:t>
            </a:r>
            <a:r>
              <a:rPr lang="en-IN" altLang="en-US" b="1">
                <a:solidFill>
                  <a:srgbClr val="FF0000"/>
                </a:solidFill>
              </a:rPr>
              <a:t> :</a:t>
            </a:r>
            <a:endParaRPr lang="en-IN" altLang="en-US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572260"/>
            <a:ext cx="10515600" cy="668655"/>
          </a:xfrm>
        </p:spPr>
        <p:txBody>
          <a:bodyPr/>
          <a:p>
            <a:pPr marL="114300" indent="0">
              <a:buNone/>
            </a:pPr>
            <a:r>
              <a:rPr lang="en-US" altLang="en-US" b="1"/>
              <a:t>During this project, I faced challenges such as:</a:t>
            </a:r>
            <a:endParaRPr lang="en-US" alt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2222500" y="2346325"/>
            <a:ext cx="7063740" cy="3260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000"/>
              <a:t> </a:t>
            </a:r>
            <a:r>
              <a:rPr lang="en-US" altLang="en-US" sz="2000"/>
              <a:t>Understanding table relationships</a:t>
            </a:r>
            <a:endParaRPr lang="en-US" altLang="en-US" sz="2000"/>
          </a:p>
          <a:p>
            <a:endParaRPr lang="en-US" altLang="en-US" sz="20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000"/>
              <a:t> </a:t>
            </a:r>
            <a:r>
              <a:rPr lang="en-US" altLang="en-US" sz="2000"/>
              <a:t>Writing complex JOIN queries</a:t>
            </a:r>
            <a:endParaRPr lang="en-US" altLang="en-US" sz="2000"/>
          </a:p>
          <a:p>
            <a:endParaRPr lang="en-US" altLang="en-US" sz="20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000"/>
              <a:t> </a:t>
            </a:r>
            <a:r>
              <a:rPr lang="en-US" altLang="en-US" sz="2000"/>
              <a:t>Performing accurate aggregations</a:t>
            </a:r>
            <a:endParaRPr lang="en-US" altLang="en-US" sz="2000"/>
          </a:p>
          <a:p>
            <a:endParaRPr lang="en-US" altLang="en-US" sz="20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000"/>
              <a:t> </a:t>
            </a:r>
            <a:r>
              <a:rPr lang="en-US" altLang="en-US" sz="2000"/>
              <a:t>Interpreting query results correctly</a:t>
            </a:r>
            <a:endParaRPr lang="en-US" altLang="en-US" sz="2000"/>
          </a:p>
          <a:p>
            <a:endParaRPr lang="en-US" altLang="en-US" sz="2000"/>
          </a:p>
          <a:p>
            <a:pPr marL="342900" indent="-342900">
              <a:buFont typeface="Wingdings" panose="05000000000000000000" charset="0"/>
              <a:buChar char="v"/>
            </a:pPr>
            <a:r>
              <a:rPr lang="en-IN" altLang="en-US" sz="2000"/>
              <a:t> </a:t>
            </a:r>
            <a:r>
              <a:rPr lang="en-US" altLang="en-US" sz="2000"/>
              <a:t>These challenges helped me improve my SQL skills.</a:t>
            </a:r>
            <a:endParaRPr lang="en-US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440055" y="365125"/>
            <a:ext cx="10913745" cy="848360"/>
          </a:xfrm>
        </p:spPr>
        <p:txBody>
          <a:bodyPr/>
          <a:p>
            <a:r>
              <a:rPr lang="en-US" altLang="en-US" b="1">
                <a:solidFill>
                  <a:srgbClr val="FF0000"/>
                </a:solidFill>
              </a:rPr>
              <a:t>Conclusion</a:t>
            </a:r>
            <a:r>
              <a:rPr lang="en-IN" altLang="en-US" b="1">
                <a:solidFill>
                  <a:srgbClr val="FF0000"/>
                </a:solidFill>
              </a:rPr>
              <a:t> :</a:t>
            </a:r>
            <a:endParaRPr lang="en-IN" altLang="en-US" b="1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478280"/>
            <a:ext cx="10515600" cy="4699000"/>
          </a:xfrm>
        </p:spPr>
        <p:txBody>
          <a:bodyPr>
            <a:normAutofit lnSpcReduction="10000"/>
          </a:bodyPr>
          <a:p>
            <a:pPr>
              <a:buFont typeface="Wingdings" panose="05000000000000000000" charset="0"/>
              <a:buChar char="v"/>
            </a:pPr>
            <a:r>
              <a:rPr lang="en-US" altLang="en-US"/>
              <a:t>In conclusion, this project demonstrates how SQL can be used to analyze real-world business data.</a:t>
            </a:r>
            <a:endParaRPr lang="en-US" altLang="en-US"/>
          </a:p>
          <a:p>
            <a:pPr>
              <a:buFont typeface="Wingdings" panose="05000000000000000000" charset="0"/>
              <a:buChar char="v"/>
            </a:pPr>
            <a:r>
              <a:rPr lang="en-US" altLang="en-US"/>
              <a:t>SQL helped extract actionable business insights</a:t>
            </a:r>
            <a:endParaRPr lang="en-US" altLang="en-US"/>
          </a:p>
          <a:p>
            <a:pPr>
              <a:buFont typeface="Wingdings" panose="05000000000000000000" charset="0"/>
              <a:buChar char="v"/>
            </a:pPr>
            <a:r>
              <a:rPr lang="en-US" altLang="en-US"/>
              <a:t>Project demonstrates capability in data interpretation</a:t>
            </a:r>
            <a:endParaRPr lang="en-US" altLang="en-US"/>
          </a:p>
          <a:p>
            <a:pPr>
              <a:buFont typeface="Wingdings" panose="05000000000000000000" charset="0"/>
              <a:buChar char="v"/>
            </a:pPr>
            <a:r>
              <a:rPr lang="en-US" altLang="en-US"/>
              <a:t>It improved my database design skills and analytical thinking.</a:t>
            </a:r>
            <a:endParaRPr lang="en-US" altLang="en-US"/>
          </a:p>
          <a:p>
            <a:pPr>
              <a:buFont typeface="Wingdings" panose="05000000000000000000" charset="0"/>
              <a:buChar char="v"/>
            </a:pPr>
            <a:r>
              <a:rPr lang="en-US" altLang="en-US"/>
              <a:t>The analysis provides valuable insights to improve supplier management, employee performance, and sales operations.</a:t>
            </a:r>
            <a:endParaRPr lang="en-US" altLang="en-US"/>
          </a:p>
          <a:p>
            <a:pPr>
              <a:buFont typeface="Wingdings" panose="05000000000000000000" charset="0"/>
              <a:buChar char="v"/>
            </a:pPr>
            <a:r>
              <a:rPr lang="en-US" altLang="en-US"/>
              <a:t>Sets foundation for advanced analytics and dashboards</a:t>
            </a:r>
            <a:r>
              <a:rPr lang="en-IN" altLang="en-US"/>
              <a:t>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003040" y="2720975"/>
            <a:ext cx="2834640" cy="1083945"/>
          </a:xfrm>
        </p:spPr>
        <p:txBody>
          <a:bodyPr>
            <a:noAutofit/>
          </a:bodyPr>
          <a:p>
            <a:pPr marL="114300" indent="0">
              <a:buNone/>
            </a:pPr>
            <a:r>
              <a:rPr lang="en-IN" altLang="en-US" sz="7200">
                <a:solidFill>
                  <a:srgbClr val="FF0000"/>
                </a:solidFill>
              </a:rPr>
              <a:t>Q &amp; A</a:t>
            </a:r>
            <a:endParaRPr lang="en-IN" altLang="en-US" sz="7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6098</Words>
  <Application>WPS Presentation</Application>
  <PresentationFormat/>
  <Paragraphs>250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Wingdings</vt:lpstr>
      <vt:lpstr>Microsoft YaHei</vt:lpstr>
      <vt:lpstr>Arial Unicode MS</vt:lpstr>
      <vt:lpstr>Libre Baskerville</vt:lpstr>
      <vt:lpstr>Office Theme</vt:lpstr>
      <vt:lpstr>PowerPoint 演示文稿</vt:lpstr>
      <vt:lpstr>Agenda  </vt:lpstr>
      <vt:lpstr>Business Problem :</vt:lpstr>
      <vt:lpstr>Objectives</vt:lpstr>
      <vt:lpstr>Dataset Overview</vt:lpstr>
      <vt:lpstr>ER - Diagram</vt:lpstr>
      <vt:lpstr>Schema Explanation :</vt:lpstr>
      <vt:lpstr>Cascade Rules in Grocery Store Database</vt:lpstr>
      <vt:lpstr>ON DELETE CASCADE :</vt:lpstr>
      <vt:lpstr>Update cascade and Delete cascade</vt:lpstr>
      <vt:lpstr>Supplier Performance : </vt:lpstr>
      <vt:lpstr> Which suppliers contribute the most to total product sales (by revenue)?</vt:lpstr>
      <vt:lpstr>Employee Performance</vt:lpstr>
      <vt:lpstr>Product Performance</vt:lpstr>
      <vt:lpstr>Order Details Deep Dive :</vt:lpstr>
      <vt:lpstr>Customer Insights :</vt:lpstr>
      <vt:lpstr>Sales and Order Trends</vt:lpstr>
      <vt:lpstr>Combined Business Insights :</vt:lpstr>
      <vt:lpstr>Recommendations :</vt:lpstr>
      <vt:lpstr>Challenges Faced :</vt:lpstr>
      <vt:lpstr>Conclusion 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shahin shaik</cp:lastModifiedBy>
  <cp:revision>34</cp:revision>
  <dcterms:created xsi:type="dcterms:W3CDTF">2026-02-10T03:53:00Z</dcterms:created>
  <dcterms:modified xsi:type="dcterms:W3CDTF">2026-02-13T06:07:29Z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6B7975B45DA0494796EF20521A0FF739_13</vt:lpwstr>
  </property>
  <property fmtid="{D5CDD505-2E9C-101B-9397-08002B2CF9AE}" pid="3" name="KSOProductBuildVer">
    <vt:lpwstr>1033-12.2.0.23196</vt:lpwstr>
  </property>
</Properties>
</file>